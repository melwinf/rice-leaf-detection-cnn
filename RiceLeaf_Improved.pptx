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473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" cy="5143500"/>
          </a:xfrm>
          <a:prstGeom prst="rect">
            <a:avLst/>
          </a:prstGeom>
          <a:solidFill>
            <a:srgbClr val="E8A838"/>
          </a:solidFill>
          <a:ln w="12700">
            <a:solidFill>
              <a:srgbClr val="E8A83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320040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spc="200" kern="0" dirty="0">
                <a:solidFill>
                  <a:srgbClr val="8BC4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CAPSTONE PROJECT  |  PRCP-1001  |  IMPROVED VERSION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11480" y="777240"/>
            <a:ext cx="822960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Rice Leaf Disease</a:t>
            </a:r>
            <a:endParaRPr lang="en-US" sz="4400" dirty="0"/>
          </a:p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Detection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411480" y="269748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8BC4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Enhanced with: Fine-Tuning  ·  Stronger Augmentation  ·  Class Weights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11480" y="3337560"/>
            <a:ext cx="1965960" cy="914400"/>
          </a:xfrm>
          <a:prstGeom prst="rect">
            <a:avLst/>
          </a:prstGeom>
          <a:solidFill>
            <a:srgbClr val="0F3322"/>
          </a:solidFill>
          <a:ln w="12700">
            <a:solidFill>
              <a:srgbClr val="0F332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11480" y="3383280"/>
            <a:ext cx="1965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8BC4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IMAGES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411480" y="3657600"/>
            <a:ext cx="1965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E8A8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119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2587752" y="3337560"/>
            <a:ext cx="1965960" cy="914400"/>
          </a:xfrm>
          <a:prstGeom prst="rect">
            <a:avLst/>
          </a:prstGeom>
          <a:solidFill>
            <a:srgbClr val="0F3322"/>
          </a:solidFill>
          <a:ln w="12700">
            <a:solidFill>
              <a:srgbClr val="0F332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587752" y="3383280"/>
            <a:ext cx="1965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8BC4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CLASSES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2587752" y="3657600"/>
            <a:ext cx="1965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E8A8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000" dirty="0"/>
          </a:p>
        </p:txBody>
      </p:sp>
      <p:sp>
        <p:nvSpPr>
          <p:cNvPr id="12" name="Shape 10"/>
          <p:cNvSpPr/>
          <p:nvPr/>
        </p:nvSpPr>
        <p:spPr>
          <a:xfrm>
            <a:off x="4764024" y="3337560"/>
            <a:ext cx="1965960" cy="914400"/>
          </a:xfrm>
          <a:prstGeom prst="rect">
            <a:avLst/>
          </a:prstGeom>
          <a:solidFill>
            <a:srgbClr val="0F3322"/>
          </a:solidFill>
          <a:ln w="12700">
            <a:solidFill>
              <a:srgbClr val="0F332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764024" y="3383280"/>
            <a:ext cx="1965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8BC4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VAL ACC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4764024" y="3657600"/>
            <a:ext cx="1965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E8A8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95.7%</a:t>
            </a:r>
            <a:endParaRPr lang="en-US" sz="2000" dirty="0"/>
          </a:p>
        </p:txBody>
      </p:sp>
      <p:sp>
        <p:nvSpPr>
          <p:cNvPr id="15" name="Shape 13"/>
          <p:cNvSpPr/>
          <p:nvPr/>
        </p:nvSpPr>
        <p:spPr>
          <a:xfrm>
            <a:off x="6940296" y="3337560"/>
            <a:ext cx="1965960" cy="914400"/>
          </a:xfrm>
          <a:prstGeom prst="rect">
            <a:avLst/>
          </a:prstGeom>
          <a:solidFill>
            <a:srgbClr val="0F3322"/>
          </a:solidFill>
          <a:ln w="12700">
            <a:solidFill>
              <a:srgbClr val="0F3322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940296" y="3383280"/>
            <a:ext cx="1965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8BC4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MODEL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6940296" y="3657600"/>
            <a:ext cx="1965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E8A8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MobileNetV2</a:t>
            </a:r>
            <a:endParaRPr lang="en-US" sz="2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A4731"/>
          </a:solidFill>
          <a:ln w="12700">
            <a:solidFill>
              <a:srgbClr val="1A473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82880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AGENDA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20040" y="1005840"/>
            <a:ext cx="4160520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D1FAE5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9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20040" y="1005840"/>
            <a:ext cx="502920" cy="1051560"/>
          </a:xfrm>
          <a:prstGeom prst="rect">
            <a:avLst/>
          </a:prstGeom>
          <a:solidFill>
            <a:srgbClr val="1A4731"/>
          </a:solidFill>
          <a:ln w="12700">
            <a:solidFill>
              <a:srgbClr val="1A473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20040" y="1280160"/>
            <a:ext cx="502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E8A8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914400" y="1280160"/>
            <a:ext cx="3474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47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Overview &amp; EDA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20040" y="2286000"/>
            <a:ext cx="4160520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D1FAE5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9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20040" y="2286000"/>
            <a:ext cx="502920" cy="1051560"/>
          </a:xfrm>
          <a:prstGeom prst="rect">
            <a:avLst/>
          </a:prstGeom>
          <a:solidFill>
            <a:srgbClr val="1A4731"/>
          </a:solidFill>
          <a:ln w="12700">
            <a:solidFill>
              <a:srgbClr val="1A473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20040" y="2560320"/>
            <a:ext cx="502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E8A8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914400" y="2560320"/>
            <a:ext cx="3474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47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Augmentation (Improved)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320040" y="3566160"/>
            <a:ext cx="4160520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D1FAE5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9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20040" y="3566160"/>
            <a:ext cx="502920" cy="1051560"/>
          </a:xfrm>
          <a:prstGeom prst="rect">
            <a:avLst/>
          </a:prstGeom>
          <a:solidFill>
            <a:srgbClr val="1A4731"/>
          </a:solidFill>
          <a:ln w="12700">
            <a:solidFill>
              <a:srgbClr val="1A473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20040" y="3840480"/>
            <a:ext cx="502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E8A8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914400" y="3840480"/>
            <a:ext cx="3474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47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Training: CNN / VGG16 / MobileNetV2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4892040" y="1005840"/>
            <a:ext cx="4160520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D1FAE5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9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892040" y="1005840"/>
            <a:ext cx="502920" cy="1051560"/>
          </a:xfrm>
          <a:prstGeom prst="rect">
            <a:avLst/>
          </a:prstGeom>
          <a:solidFill>
            <a:srgbClr val="1A4731"/>
          </a:solidFill>
          <a:ln w="12700">
            <a:solidFill>
              <a:srgbClr val="1A473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892040" y="1280160"/>
            <a:ext cx="502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E8A8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5486400" y="1280160"/>
            <a:ext cx="3474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47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Fine-Tuning MobileNetV2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4892040" y="2286000"/>
            <a:ext cx="4160520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D1FAE5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9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892040" y="2286000"/>
            <a:ext cx="502920" cy="1051560"/>
          </a:xfrm>
          <a:prstGeom prst="rect">
            <a:avLst/>
          </a:prstGeom>
          <a:solidFill>
            <a:srgbClr val="1A4731"/>
          </a:solidFill>
          <a:ln w="12700">
            <a:solidFill>
              <a:srgbClr val="1A473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892040" y="2560320"/>
            <a:ext cx="502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E8A8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5486400" y="2560320"/>
            <a:ext cx="3474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47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Confusion Matrices &amp; Results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4892040" y="3566160"/>
            <a:ext cx="4160520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D1FAE5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9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892040" y="3566160"/>
            <a:ext cx="502920" cy="1051560"/>
          </a:xfrm>
          <a:prstGeom prst="rect">
            <a:avLst/>
          </a:prstGeom>
          <a:solidFill>
            <a:srgbClr val="1A4731"/>
          </a:solidFill>
          <a:ln w="12700">
            <a:solidFill>
              <a:srgbClr val="1A4731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892040" y="3840480"/>
            <a:ext cx="502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E8A8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5486400" y="3840480"/>
            <a:ext cx="3474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47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Comparison &amp; Recommendations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A4731"/>
          </a:solidFill>
          <a:ln w="12700">
            <a:solidFill>
              <a:srgbClr val="1A473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82880"/>
            <a:ext cx="84124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Overview &amp; EDA</a:t>
            </a:r>
            <a:endParaRPr lang="en-US" sz="20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2880" y="896112"/>
            <a:ext cx="5486400" cy="393192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5852160" y="960120"/>
            <a:ext cx="3063240" cy="1188720"/>
          </a:xfrm>
          <a:prstGeom prst="rect">
            <a:avLst/>
          </a:prstGeom>
          <a:solidFill>
            <a:srgbClr val="F5F5F0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9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5852160" y="960120"/>
            <a:ext cx="109728" cy="1188720"/>
          </a:xfrm>
          <a:prstGeom prst="rect">
            <a:avLst/>
          </a:prstGeom>
          <a:solidFill>
            <a:srgbClr val="2980B9"/>
          </a:solidFill>
          <a:ln w="12700">
            <a:solidFill>
              <a:srgbClr val="2980B9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6053328" y="1033272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A47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Bacterial Leaf Blight</a:t>
            </a:r>
            <a:endParaRPr lang="en-US" sz="1150" dirty="0"/>
          </a:p>
        </p:txBody>
      </p:sp>
      <p:sp>
        <p:nvSpPr>
          <p:cNvPr id="8" name="Text 5"/>
          <p:cNvSpPr/>
          <p:nvPr/>
        </p:nvSpPr>
        <p:spPr>
          <a:xfrm>
            <a:off x="6053328" y="1307592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980B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 images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6053328" y="1527048"/>
            <a:ext cx="22860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Water-soaked lesions turning yellow-brown. Caused by Xanthomonas oryzae.</a:t>
            </a:r>
            <a:endParaRPr lang="en-US" sz="950" dirty="0"/>
          </a:p>
        </p:txBody>
      </p:sp>
      <p:sp>
        <p:nvSpPr>
          <p:cNvPr id="10" name="Shape 7"/>
          <p:cNvSpPr/>
          <p:nvPr/>
        </p:nvSpPr>
        <p:spPr>
          <a:xfrm>
            <a:off x="5852160" y="2286000"/>
            <a:ext cx="3063240" cy="1188720"/>
          </a:xfrm>
          <a:prstGeom prst="rect">
            <a:avLst/>
          </a:prstGeom>
          <a:solidFill>
            <a:srgbClr val="F5F5F0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9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5852160" y="2286000"/>
            <a:ext cx="109728" cy="1188720"/>
          </a:xfrm>
          <a:prstGeom prst="rect">
            <a:avLst/>
          </a:prstGeom>
          <a:solidFill>
            <a:srgbClr val="8B4513"/>
          </a:solidFill>
          <a:ln w="12700">
            <a:solidFill>
              <a:srgbClr val="8B4513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6053328" y="2359152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A47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Brown Spot</a:t>
            </a:r>
            <a:endParaRPr lang="en-US" sz="1150" dirty="0"/>
          </a:p>
        </p:txBody>
      </p:sp>
      <p:sp>
        <p:nvSpPr>
          <p:cNvPr id="13" name="Text 10"/>
          <p:cNvSpPr/>
          <p:nvPr/>
        </p:nvSpPr>
        <p:spPr>
          <a:xfrm>
            <a:off x="6053328" y="2633472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8B45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 images</a:t>
            </a:r>
            <a:endParaRPr lang="en-US" sz="1000" dirty="0"/>
          </a:p>
        </p:txBody>
      </p:sp>
      <p:sp>
        <p:nvSpPr>
          <p:cNvPr id="14" name="Text 11"/>
          <p:cNvSpPr/>
          <p:nvPr/>
        </p:nvSpPr>
        <p:spPr>
          <a:xfrm>
            <a:off x="6053328" y="2852928"/>
            <a:ext cx="22860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Oval brown lesions with yellow halo. Caused by Helminthosporium oryzae.</a:t>
            </a:r>
            <a:endParaRPr lang="en-US" sz="950" dirty="0"/>
          </a:p>
        </p:txBody>
      </p:sp>
      <p:sp>
        <p:nvSpPr>
          <p:cNvPr id="15" name="Shape 12"/>
          <p:cNvSpPr/>
          <p:nvPr/>
        </p:nvSpPr>
        <p:spPr>
          <a:xfrm>
            <a:off x="5852160" y="3611880"/>
            <a:ext cx="3063240" cy="1188720"/>
          </a:xfrm>
          <a:prstGeom prst="rect">
            <a:avLst/>
          </a:prstGeom>
          <a:solidFill>
            <a:srgbClr val="F5F5F0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9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5852160" y="3611880"/>
            <a:ext cx="109728" cy="1188720"/>
          </a:xfrm>
          <a:prstGeom prst="rect">
            <a:avLst/>
          </a:prstGeom>
          <a:solidFill>
            <a:srgbClr val="2D7D52"/>
          </a:solidFill>
          <a:ln w="12700">
            <a:solidFill>
              <a:srgbClr val="2D7D52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6053328" y="3685032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A47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Leaf Smut</a:t>
            </a:r>
            <a:endParaRPr lang="en-US" sz="1150" dirty="0"/>
          </a:p>
        </p:txBody>
      </p:sp>
      <p:sp>
        <p:nvSpPr>
          <p:cNvPr id="18" name="Text 15"/>
          <p:cNvSpPr/>
          <p:nvPr/>
        </p:nvSpPr>
        <p:spPr>
          <a:xfrm>
            <a:off x="6053328" y="3959352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D7D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39 images</a:t>
            </a:r>
            <a:endParaRPr lang="en-US" sz="1000" dirty="0"/>
          </a:p>
        </p:txBody>
      </p:sp>
      <p:sp>
        <p:nvSpPr>
          <p:cNvPr id="19" name="Text 16"/>
          <p:cNvSpPr/>
          <p:nvPr/>
        </p:nvSpPr>
        <p:spPr>
          <a:xfrm>
            <a:off x="6053328" y="4178808"/>
            <a:ext cx="22860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Angular black lesions. Caused by Entyloma oryzae. Often subtle.</a:t>
            </a:r>
            <a:endParaRPr lang="en-US" sz="950" dirty="0"/>
          </a:p>
        </p:txBody>
      </p:sp>
      <p:sp>
        <p:nvSpPr>
          <p:cNvPr id="20" name="Text 17"/>
          <p:cNvSpPr/>
          <p:nvPr/>
        </p:nvSpPr>
        <p:spPr>
          <a:xfrm>
            <a:off x="182880" y="4846320"/>
            <a:ext cx="8778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119 total images · 34 unique sizes · All resized to 224×224 px · 80/20 train-val split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A4731"/>
          </a:solidFill>
          <a:ln w="12700">
            <a:solidFill>
              <a:srgbClr val="1A473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82880"/>
            <a:ext cx="84124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Improved Data Augmentation</a:t>
            </a:r>
            <a:endParaRPr lang="en-US" sz="20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2880" y="896112"/>
            <a:ext cx="5303520" cy="324612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669280" y="960120"/>
            <a:ext cx="32461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47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vs After Augmentation</a:t>
            </a:r>
            <a:endParaRPr lang="en-US" sz="1300" dirty="0"/>
          </a:p>
        </p:txBody>
      </p:sp>
      <p:sp>
        <p:nvSpPr>
          <p:cNvPr id="6" name="Shape 3"/>
          <p:cNvSpPr/>
          <p:nvPr/>
        </p:nvSpPr>
        <p:spPr>
          <a:xfrm>
            <a:off x="5669280" y="1389888"/>
            <a:ext cx="3246120" cy="475488"/>
          </a:xfrm>
          <a:prstGeom prst="rect">
            <a:avLst/>
          </a:prstGeom>
          <a:solidFill>
            <a:srgbClr val="1A4731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5669280" y="1481328"/>
            <a:ext cx="10515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Parameter</a:t>
            </a:r>
            <a:endParaRPr lang="en-US" sz="1050" dirty="0"/>
          </a:p>
        </p:txBody>
      </p:sp>
      <p:sp>
        <p:nvSpPr>
          <p:cNvPr id="8" name="Text 5"/>
          <p:cNvSpPr/>
          <p:nvPr/>
        </p:nvSpPr>
        <p:spPr>
          <a:xfrm>
            <a:off x="6748272" y="1481328"/>
            <a:ext cx="10515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</a:t>
            </a:r>
            <a:endParaRPr lang="en-US" sz="1050" dirty="0"/>
          </a:p>
        </p:txBody>
      </p:sp>
      <p:sp>
        <p:nvSpPr>
          <p:cNvPr id="9" name="Text 6"/>
          <p:cNvSpPr/>
          <p:nvPr/>
        </p:nvSpPr>
        <p:spPr>
          <a:xfrm>
            <a:off x="7827264" y="1481328"/>
            <a:ext cx="10515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5669280" y="1892808"/>
            <a:ext cx="324612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5669280" y="1984248"/>
            <a:ext cx="10515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A47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Rotation</a:t>
            </a:r>
            <a:endParaRPr lang="en-US" sz="1050" dirty="0"/>
          </a:p>
        </p:txBody>
      </p:sp>
      <p:sp>
        <p:nvSpPr>
          <p:cNvPr id="12" name="Text 9"/>
          <p:cNvSpPr/>
          <p:nvPr/>
        </p:nvSpPr>
        <p:spPr>
          <a:xfrm>
            <a:off x="6748272" y="1984248"/>
            <a:ext cx="10515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A47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30°</a:t>
            </a:r>
            <a:endParaRPr lang="en-US" sz="1050" dirty="0"/>
          </a:p>
        </p:txBody>
      </p:sp>
      <p:sp>
        <p:nvSpPr>
          <p:cNvPr id="13" name="Text 10"/>
          <p:cNvSpPr/>
          <p:nvPr/>
        </p:nvSpPr>
        <p:spPr>
          <a:xfrm>
            <a:off x="7827264" y="1984248"/>
            <a:ext cx="10515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2D7D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45°</a:t>
            </a:r>
            <a:endParaRPr lang="en-US" sz="1050" dirty="0"/>
          </a:p>
        </p:txBody>
      </p:sp>
      <p:sp>
        <p:nvSpPr>
          <p:cNvPr id="14" name="Shape 11"/>
          <p:cNvSpPr/>
          <p:nvPr/>
        </p:nvSpPr>
        <p:spPr>
          <a:xfrm>
            <a:off x="5669280" y="2395728"/>
            <a:ext cx="3246120" cy="475488"/>
          </a:xfrm>
          <a:prstGeom prst="rect">
            <a:avLst/>
          </a:prstGeom>
          <a:solidFill>
            <a:srgbClr val="E8F5EE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5669280" y="2487168"/>
            <a:ext cx="10515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A47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Shift</a:t>
            </a:r>
            <a:endParaRPr lang="en-US" sz="1050" dirty="0"/>
          </a:p>
        </p:txBody>
      </p:sp>
      <p:sp>
        <p:nvSpPr>
          <p:cNvPr id="16" name="Text 13"/>
          <p:cNvSpPr/>
          <p:nvPr/>
        </p:nvSpPr>
        <p:spPr>
          <a:xfrm>
            <a:off x="6748272" y="2487168"/>
            <a:ext cx="10515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A47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20%</a:t>
            </a:r>
            <a:endParaRPr lang="en-US" sz="1050" dirty="0"/>
          </a:p>
        </p:txBody>
      </p:sp>
      <p:sp>
        <p:nvSpPr>
          <p:cNvPr id="17" name="Text 14"/>
          <p:cNvSpPr/>
          <p:nvPr/>
        </p:nvSpPr>
        <p:spPr>
          <a:xfrm>
            <a:off x="7827264" y="2487168"/>
            <a:ext cx="10515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2D7D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30%</a:t>
            </a:r>
            <a:endParaRPr lang="en-US" sz="1050" dirty="0"/>
          </a:p>
        </p:txBody>
      </p:sp>
      <p:sp>
        <p:nvSpPr>
          <p:cNvPr id="18" name="Shape 15"/>
          <p:cNvSpPr/>
          <p:nvPr/>
        </p:nvSpPr>
        <p:spPr>
          <a:xfrm>
            <a:off x="5669280" y="2898648"/>
            <a:ext cx="324612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5669280" y="2990088"/>
            <a:ext cx="10515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A47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Zoom</a:t>
            </a:r>
            <a:endParaRPr lang="en-US" sz="1050" dirty="0"/>
          </a:p>
        </p:txBody>
      </p:sp>
      <p:sp>
        <p:nvSpPr>
          <p:cNvPr id="20" name="Text 17"/>
          <p:cNvSpPr/>
          <p:nvPr/>
        </p:nvSpPr>
        <p:spPr>
          <a:xfrm>
            <a:off x="6748272" y="2990088"/>
            <a:ext cx="10515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A47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20%</a:t>
            </a:r>
            <a:endParaRPr lang="en-US" sz="1050" dirty="0"/>
          </a:p>
        </p:txBody>
      </p:sp>
      <p:sp>
        <p:nvSpPr>
          <p:cNvPr id="21" name="Text 18"/>
          <p:cNvSpPr/>
          <p:nvPr/>
        </p:nvSpPr>
        <p:spPr>
          <a:xfrm>
            <a:off x="7827264" y="2990088"/>
            <a:ext cx="10515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2D7D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30%</a:t>
            </a:r>
            <a:endParaRPr lang="en-US" sz="1050" dirty="0"/>
          </a:p>
        </p:txBody>
      </p:sp>
      <p:sp>
        <p:nvSpPr>
          <p:cNvPr id="22" name="Shape 19"/>
          <p:cNvSpPr/>
          <p:nvPr/>
        </p:nvSpPr>
        <p:spPr>
          <a:xfrm>
            <a:off x="5669280" y="3401568"/>
            <a:ext cx="3246120" cy="475488"/>
          </a:xfrm>
          <a:prstGeom prst="rect">
            <a:avLst/>
          </a:prstGeom>
          <a:solidFill>
            <a:srgbClr val="E8F5EE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5669280" y="3493008"/>
            <a:ext cx="10515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A47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Brightness</a:t>
            </a:r>
            <a:endParaRPr lang="en-US" sz="1050" dirty="0"/>
          </a:p>
        </p:txBody>
      </p:sp>
      <p:sp>
        <p:nvSpPr>
          <p:cNvPr id="24" name="Text 21"/>
          <p:cNvSpPr/>
          <p:nvPr/>
        </p:nvSpPr>
        <p:spPr>
          <a:xfrm>
            <a:off x="6748272" y="3493008"/>
            <a:ext cx="10515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A47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0.8–1.2</a:t>
            </a:r>
            <a:endParaRPr lang="en-US" sz="1050" dirty="0"/>
          </a:p>
        </p:txBody>
      </p:sp>
      <p:sp>
        <p:nvSpPr>
          <p:cNvPr id="25" name="Text 22"/>
          <p:cNvSpPr/>
          <p:nvPr/>
        </p:nvSpPr>
        <p:spPr>
          <a:xfrm>
            <a:off x="7827264" y="3493008"/>
            <a:ext cx="10515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2D7D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0.6–1.4</a:t>
            </a:r>
            <a:endParaRPr lang="en-US" sz="1050" dirty="0"/>
          </a:p>
        </p:txBody>
      </p:sp>
      <p:sp>
        <p:nvSpPr>
          <p:cNvPr id="26" name="Shape 23"/>
          <p:cNvSpPr/>
          <p:nvPr/>
        </p:nvSpPr>
        <p:spPr>
          <a:xfrm>
            <a:off x="5669280" y="3904488"/>
            <a:ext cx="324612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5669280" y="3995928"/>
            <a:ext cx="10515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A47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Channel Shift</a:t>
            </a:r>
            <a:endParaRPr lang="en-US" sz="1050" dirty="0"/>
          </a:p>
        </p:txBody>
      </p:sp>
      <p:sp>
        <p:nvSpPr>
          <p:cNvPr id="28" name="Text 25"/>
          <p:cNvSpPr/>
          <p:nvPr/>
        </p:nvSpPr>
        <p:spPr>
          <a:xfrm>
            <a:off x="6748272" y="3995928"/>
            <a:ext cx="10515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A47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050" dirty="0"/>
          </a:p>
        </p:txBody>
      </p:sp>
      <p:sp>
        <p:nvSpPr>
          <p:cNvPr id="29" name="Text 26"/>
          <p:cNvSpPr/>
          <p:nvPr/>
        </p:nvSpPr>
        <p:spPr>
          <a:xfrm>
            <a:off x="7827264" y="3995928"/>
            <a:ext cx="10515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2D7D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30.0</a:t>
            </a:r>
            <a:endParaRPr lang="en-US" sz="1050" dirty="0"/>
          </a:p>
        </p:txBody>
      </p:sp>
      <p:sp>
        <p:nvSpPr>
          <p:cNvPr id="30" name="Shape 27"/>
          <p:cNvSpPr/>
          <p:nvPr/>
        </p:nvSpPr>
        <p:spPr>
          <a:xfrm>
            <a:off x="5669280" y="4407408"/>
            <a:ext cx="3246120" cy="475488"/>
          </a:xfrm>
          <a:prstGeom prst="rect">
            <a:avLst/>
          </a:prstGeom>
          <a:solidFill>
            <a:srgbClr val="E8F5EE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5669280" y="4498848"/>
            <a:ext cx="10515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A47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Fill Mode</a:t>
            </a:r>
            <a:endParaRPr lang="en-US" sz="1050" dirty="0"/>
          </a:p>
        </p:txBody>
      </p:sp>
      <p:sp>
        <p:nvSpPr>
          <p:cNvPr id="32" name="Text 29"/>
          <p:cNvSpPr/>
          <p:nvPr/>
        </p:nvSpPr>
        <p:spPr>
          <a:xfrm>
            <a:off x="6748272" y="4498848"/>
            <a:ext cx="10515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A47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nearest</a:t>
            </a:r>
            <a:endParaRPr lang="en-US" sz="1050" dirty="0"/>
          </a:p>
        </p:txBody>
      </p:sp>
      <p:sp>
        <p:nvSpPr>
          <p:cNvPr id="33" name="Text 30"/>
          <p:cNvSpPr/>
          <p:nvPr/>
        </p:nvSpPr>
        <p:spPr>
          <a:xfrm>
            <a:off x="7827264" y="4498848"/>
            <a:ext cx="10515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2D7D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reflect</a:t>
            </a:r>
            <a:endParaRPr lang="en-US" sz="1050" dirty="0"/>
          </a:p>
        </p:txBody>
      </p:sp>
      <p:sp>
        <p:nvSpPr>
          <p:cNvPr id="34" name="Text 31"/>
          <p:cNvSpPr/>
          <p:nvPr/>
        </p:nvSpPr>
        <p:spPr>
          <a:xfrm>
            <a:off x="182880" y="4224528"/>
            <a:ext cx="53035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New: channel_shift_range=30 and fill_mode='reflect' improve colour diversity and edge handling.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A4731"/>
          </a:solidFill>
          <a:ln w="12700">
            <a:solidFill>
              <a:srgbClr val="1A473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82880"/>
            <a:ext cx="84124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History — All Three Models</a:t>
            </a:r>
            <a:endParaRPr lang="en-US" sz="20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7160" y="868680"/>
            <a:ext cx="8869680" cy="374904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182880" y="4681728"/>
            <a:ext cx="2834640" cy="384048"/>
          </a:xfrm>
          <a:prstGeom prst="rect">
            <a:avLst/>
          </a:prstGeom>
          <a:solidFill>
            <a:srgbClr val="F5F5F0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182880" y="4681728"/>
            <a:ext cx="91440" cy="384048"/>
          </a:xfrm>
          <a:prstGeom prst="rect">
            <a:avLst/>
          </a:prstGeom>
          <a:solidFill>
            <a:srgbClr val="2980B9"/>
          </a:solidFill>
          <a:ln w="12700">
            <a:solidFill>
              <a:srgbClr val="2980B9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365760" y="4700016"/>
            <a:ext cx="2651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CNN: Loss diverged to 25+. Failed — 22M params, only 96 training images.</a:t>
            </a:r>
            <a:endParaRPr lang="en-US" sz="950" dirty="0"/>
          </a:p>
        </p:txBody>
      </p:sp>
      <p:sp>
        <p:nvSpPr>
          <p:cNvPr id="8" name="Shape 5"/>
          <p:cNvSpPr/>
          <p:nvPr/>
        </p:nvSpPr>
        <p:spPr>
          <a:xfrm>
            <a:off x="3154680" y="4681728"/>
            <a:ext cx="2834640" cy="384048"/>
          </a:xfrm>
          <a:prstGeom prst="rect">
            <a:avLst/>
          </a:prstGeom>
          <a:solidFill>
            <a:srgbClr val="F5F5F0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3154680" y="4681728"/>
            <a:ext cx="91440" cy="384048"/>
          </a:xfrm>
          <a:prstGeom prst="rect">
            <a:avLst/>
          </a:prstGeom>
          <a:solidFill>
            <a:srgbClr val="E8A838"/>
          </a:solidFill>
          <a:ln w="12700">
            <a:solidFill>
              <a:srgbClr val="E8A838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3337560" y="4700016"/>
            <a:ext cx="2651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VGG16: Val accuracy 70–83%. Moderate &amp; volatile — better than CNN.</a:t>
            </a:r>
            <a:endParaRPr lang="en-US" sz="950" dirty="0"/>
          </a:p>
        </p:txBody>
      </p:sp>
      <p:sp>
        <p:nvSpPr>
          <p:cNvPr id="11" name="Shape 8"/>
          <p:cNvSpPr/>
          <p:nvPr/>
        </p:nvSpPr>
        <p:spPr>
          <a:xfrm>
            <a:off x="6126480" y="4681728"/>
            <a:ext cx="2834640" cy="384048"/>
          </a:xfrm>
          <a:prstGeom prst="rect">
            <a:avLst/>
          </a:prstGeom>
          <a:solidFill>
            <a:srgbClr val="F5F5F0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6126480" y="4681728"/>
            <a:ext cx="91440" cy="384048"/>
          </a:xfrm>
          <a:prstGeom prst="rect">
            <a:avLst/>
          </a:prstGeom>
          <a:solidFill>
            <a:srgbClr val="2D7D52"/>
          </a:solidFill>
          <a:ln w="12700">
            <a:solidFill>
              <a:srgbClr val="2D7D52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6309360" y="4700016"/>
            <a:ext cx="2651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MobileNetV2: Best: reached 95.7% val accuracy. Stable low loss throughout.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A4731"/>
          </a:solidFill>
          <a:ln w="12700">
            <a:solidFill>
              <a:srgbClr val="1A473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82880"/>
            <a:ext cx="84124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Fine-Tuning MobileNetV2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228600" y="914400"/>
            <a:ext cx="4114800" cy="3931920"/>
          </a:xfrm>
          <a:prstGeom prst="rect">
            <a:avLst/>
          </a:prstGeom>
          <a:solidFill>
            <a:srgbClr val="E8F5EE"/>
          </a:solidFill>
          <a:ln w="12700">
            <a:solidFill>
              <a:srgbClr val="A7F3D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11480" y="1024128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1A47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Fine-Tuning Does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365760" y="1444752"/>
            <a:ext cx="347472" cy="347472"/>
          </a:xfrm>
          <a:prstGeom prst="rect">
            <a:avLst/>
          </a:prstGeom>
          <a:solidFill>
            <a:srgbClr val="2D7D52"/>
          </a:solidFill>
          <a:ln w="12700">
            <a:solidFill>
              <a:srgbClr val="2D7D5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1463040"/>
            <a:ext cx="34747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804672" y="1444752"/>
            <a:ext cx="3383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A47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Unfreeze full model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804672" y="1682496"/>
            <a:ext cx="3383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mobilenet_model.trainable = True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365760" y="2267712"/>
            <a:ext cx="347472" cy="347472"/>
          </a:xfrm>
          <a:prstGeom prst="rect">
            <a:avLst/>
          </a:prstGeom>
          <a:solidFill>
            <a:srgbClr val="2D7D52"/>
          </a:solidFill>
          <a:ln w="12700">
            <a:solidFill>
              <a:srgbClr val="2D7D5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65760" y="2286000"/>
            <a:ext cx="34747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804672" y="2267712"/>
            <a:ext cx="3383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A47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Re-freeze all but last 30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804672" y="2505456"/>
            <a:ext cx="3383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layer in model.layers[:-30]: layer.trainable = False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365760" y="3090672"/>
            <a:ext cx="347472" cy="347472"/>
          </a:xfrm>
          <a:prstGeom prst="rect">
            <a:avLst/>
          </a:prstGeom>
          <a:solidFill>
            <a:srgbClr val="2D7D52"/>
          </a:solidFill>
          <a:ln w="12700">
            <a:solidFill>
              <a:srgbClr val="2D7D5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3108960"/>
            <a:ext cx="34747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804672" y="3090672"/>
            <a:ext cx="3383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A47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Lower learning rate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804672" y="3328416"/>
            <a:ext cx="3383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Adam(lr=1e-5) — prevents destroying learned weights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365760" y="3913632"/>
            <a:ext cx="347472" cy="347472"/>
          </a:xfrm>
          <a:prstGeom prst="rect">
            <a:avLst/>
          </a:prstGeom>
          <a:solidFill>
            <a:srgbClr val="2D7D52"/>
          </a:solidFill>
          <a:ln w="12700">
            <a:solidFill>
              <a:srgbClr val="2D7D52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5760" y="3931920"/>
            <a:ext cx="34747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804672" y="3913632"/>
            <a:ext cx="3383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A47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Continue training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804672" y="4151376"/>
            <a:ext cx="3383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more epochs on the same augmented data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4572000" y="914400"/>
            <a:ext cx="4297680" cy="3931920"/>
          </a:xfrm>
          <a:prstGeom prst="rect">
            <a:avLst/>
          </a:prstGeom>
          <a:solidFill>
            <a:srgbClr val="1A4731"/>
          </a:solidFill>
          <a:ln w="12700">
            <a:solidFill>
              <a:srgbClr val="1A4731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754880" y="1024128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E8A8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Fine-Tuning Results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4709160" y="1444752"/>
            <a:ext cx="3977640" cy="530352"/>
          </a:xfrm>
          <a:prstGeom prst="rect">
            <a:avLst/>
          </a:prstGeom>
          <a:solidFill>
            <a:srgbClr val="173526"/>
          </a:solidFill>
          <a:ln w="12700">
            <a:solidFill>
              <a:srgbClr val="1F4433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800600" y="1490472"/>
            <a:ext cx="914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BC4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Epoch 1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5715000" y="1490472"/>
            <a:ext cx="16916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91.3% val acc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7406640" y="1490472"/>
            <a:ext cx="1143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C4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0.108 loss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4709160" y="2039112"/>
            <a:ext cx="3977640" cy="530352"/>
          </a:xfrm>
          <a:prstGeom prst="rect">
            <a:avLst/>
          </a:prstGeom>
          <a:solidFill>
            <a:srgbClr val="173526"/>
          </a:solidFill>
          <a:ln w="12700">
            <a:solidFill>
              <a:srgbClr val="1F4433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800600" y="2084832"/>
            <a:ext cx="914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BC4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Epoch 2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5715000" y="2084832"/>
            <a:ext cx="16916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91.3% val acc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7406640" y="2084832"/>
            <a:ext cx="1143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C4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0.183 loss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4709160" y="2633472"/>
            <a:ext cx="3977640" cy="530352"/>
          </a:xfrm>
          <a:prstGeom prst="rect">
            <a:avLst/>
          </a:prstGeom>
          <a:solidFill>
            <a:srgbClr val="2D5A3D"/>
          </a:solidFill>
          <a:ln w="12700">
            <a:solidFill>
              <a:srgbClr val="4CAF7D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800600" y="2679192"/>
            <a:ext cx="914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BC4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Epoch 3</a:t>
            </a:r>
            <a:endParaRPr lang="en-US" sz="1050" dirty="0"/>
          </a:p>
        </p:txBody>
      </p:sp>
      <p:sp>
        <p:nvSpPr>
          <p:cNvPr id="34" name="Text 32"/>
          <p:cNvSpPr/>
          <p:nvPr/>
        </p:nvSpPr>
        <p:spPr>
          <a:xfrm>
            <a:off x="5715000" y="2679192"/>
            <a:ext cx="16916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8A8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95.7% val acc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7406640" y="2679192"/>
            <a:ext cx="1143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C4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0.124 loss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4709160" y="3227832"/>
            <a:ext cx="3977640" cy="530352"/>
          </a:xfrm>
          <a:prstGeom prst="rect">
            <a:avLst/>
          </a:prstGeom>
          <a:solidFill>
            <a:srgbClr val="173526"/>
          </a:solidFill>
          <a:ln w="12700">
            <a:solidFill>
              <a:srgbClr val="1F4433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800600" y="3273552"/>
            <a:ext cx="914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BC4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Epoch 4</a:t>
            </a:r>
            <a:endParaRPr lang="en-US" sz="1050" dirty="0"/>
          </a:p>
        </p:txBody>
      </p:sp>
      <p:sp>
        <p:nvSpPr>
          <p:cNvPr id="38" name="Text 36"/>
          <p:cNvSpPr/>
          <p:nvPr/>
        </p:nvSpPr>
        <p:spPr>
          <a:xfrm>
            <a:off x="5715000" y="3273552"/>
            <a:ext cx="16916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91.3% val acc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7406640" y="3273552"/>
            <a:ext cx="1143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C4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0.158 loss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4709160" y="3822192"/>
            <a:ext cx="3977640" cy="530352"/>
          </a:xfrm>
          <a:prstGeom prst="rect">
            <a:avLst/>
          </a:prstGeom>
          <a:solidFill>
            <a:srgbClr val="173526"/>
          </a:solidFill>
          <a:ln w="12700">
            <a:solidFill>
              <a:srgbClr val="1F4433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800600" y="3867912"/>
            <a:ext cx="914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BC4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Epoch 5</a:t>
            </a:r>
            <a:endParaRPr lang="en-US" sz="1050" dirty="0"/>
          </a:p>
        </p:txBody>
      </p:sp>
      <p:sp>
        <p:nvSpPr>
          <p:cNvPr id="42" name="Text 40"/>
          <p:cNvSpPr/>
          <p:nvPr/>
        </p:nvSpPr>
        <p:spPr>
          <a:xfrm>
            <a:off x="5715000" y="3867912"/>
            <a:ext cx="16916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91.3% val acc</a:t>
            </a:r>
            <a:endParaRPr lang="en-US" sz="1200" dirty="0"/>
          </a:p>
        </p:txBody>
      </p:sp>
      <p:sp>
        <p:nvSpPr>
          <p:cNvPr id="43" name="Text 41"/>
          <p:cNvSpPr/>
          <p:nvPr/>
        </p:nvSpPr>
        <p:spPr>
          <a:xfrm>
            <a:off x="7406640" y="3867912"/>
            <a:ext cx="1143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C4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0.326 loss</a:t>
            </a:r>
            <a:endParaRPr lang="en-US" sz="1100" dirty="0"/>
          </a:p>
        </p:txBody>
      </p:sp>
      <p:sp>
        <p:nvSpPr>
          <p:cNvPr id="44" name="Shape 42"/>
          <p:cNvSpPr/>
          <p:nvPr/>
        </p:nvSpPr>
        <p:spPr>
          <a:xfrm>
            <a:off x="4709160" y="4617720"/>
            <a:ext cx="3977640" cy="182880"/>
          </a:xfrm>
          <a:prstGeom prst="rect">
            <a:avLst/>
          </a:prstGeom>
          <a:solidFill>
            <a:srgbClr val="0F3322"/>
          </a:solidFill>
          <a:ln w="12700">
            <a:solidFill>
              <a:srgbClr val="0F3322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4709160" y="4663440"/>
            <a:ext cx="39776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E8A8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 Epoch 3 achieved 95.7% validation accuracy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A4731"/>
          </a:solidFill>
          <a:ln w="12700">
            <a:solidFill>
              <a:srgbClr val="1A473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82880"/>
            <a:ext cx="84124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Confusion Matrices — CNN &amp; VGG16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274320" y="896112"/>
            <a:ext cx="41148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980B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CNN — Accuracy: 39%</a:t>
            </a:r>
            <a:endParaRPr lang="en-US" sz="130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7160" y="1261872"/>
            <a:ext cx="4297680" cy="324612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137160" y="4553712"/>
            <a:ext cx="4297680" cy="457200"/>
          </a:xfrm>
          <a:prstGeom prst="rect">
            <a:avLst/>
          </a:prstGeom>
          <a:solidFill>
            <a:srgbClr val="FEE2E2"/>
          </a:solidFill>
          <a:ln w="12700">
            <a:solidFill>
              <a:srgbClr val="FCA5A5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274320" y="4626864"/>
            <a:ext cx="40233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Predicts only Brown Spot &amp; Leaf Smut — never identifies Bacterial Leaf Blight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4754880" y="896112"/>
            <a:ext cx="41148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8A8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VGG16 — Accuracy: 43%</a:t>
            </a:r>
            <a:endParaRPr lang="en-US" sz="1300" dirty="0"/>
          </a:p>
        </p:txBody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63440" y="1261872"/>
            <a:ext cx="4297680" cy="3246120"/>
          </a:xfrm>
          <a:prstGeom prst="rect">
            <a:avLst/>
          </a:prstGeom>
        </p:spPr>
      </p:pic>
      <p:sp>
        <p:nvSpPr>
          <p:cNvPr id="10" name="Shape 6"/>
          <p:cNvSpPr/>
          <p:nvPr/>
        </p:nvSpPr>
        <p:spPr>
          <a:xfrm>
            <a:off x="4663440" y="4553712"/>
            <a:ext cx="4297680" cy="457200"/>
          </a:xfrm>
          <a:prstGeom prst="rect">
            <a:avLst/>
          </a:prstGeom>
          <a:solidFill>
            <a:srgbClr val="FEF3C7"/>
          </a:solidFill>
          <a:ln w="12700">
            <a:solidFill>
              <a:srgbClr val="FCD34D"/>
            </a:solidFill>
            <a:prstDash val="solid"/>
          </a:ln>
        </p:spPr>
      </p:sp>
      <p:sp>
        <p:nvSpPr>
          <p:cNvPr id="11" name="Text 7"/>
          <p:cNvSpPr/>
          <p:nvPr/>
        </p:nvSpPr>
        <p:spPr>
          <a:xfrm>
            <a:off x="4800600" y="4626864"/>
            <a:ext cx="40233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Improved over CNN — detects all 3 classes but confused by Leaf Smut boundary cases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A4731"/>
          </a:solidFill>
          <a:ln w="12700">
            <a:solidFill>
              <a:srgbClr val="1A473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82880"/>
            <a:ext cx="84124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Confusion Matrices — MobileNetV2 (Before &amp; After Fine-Tuning)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274320" y="896112"/>
            <a:ext cx="41148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MobileNetV2 — Before Fine-Tuning: 17%</a:t>
            </a:r>
            <a:endParaRPr lang="en-US" sz="120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7160" y="1261872"/>
            <a:ext cx="4297680" cy="324612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137160" y="4553712"/>
            <a:ext cx="4297680" cy="457200"/>
          </a:xfrm>
          <a:prstGeom prst="rect">
            <a:avLst/>
          </a:prstGeom>
          <a:solidFill>
            <a:srgbClr val="FEF3C7"/>
          </a:solidFill>
          <a:ln w="12700">
            <a:solidFill>
              <a:srgbClr val="FCD34D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274320" y="4626864"/>
            <a:ext cx="40233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Brown Spot recall = 0 — overpredicting Leaf Smut after class weights applied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4754880" y="896112"/>
            <a:ext cx="41148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D7D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MobileNetV2 Fine-Tuned — Best Model</a:t>
            </a:r>
            <a:endParaRPr lang="en-US" sz="1200" dirty="0"/>
          </a:p>
        </p:txBody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63440" y="1261872"/>
            <a:ext cx="4297680" cy="3246120"/>
          </a:xfrm>
          <a:prstGeom prst="rect">
            <a:avLst/>
          </a:prstGeom>
        </p:spPr>
      </p:pic>
      <p:sp>
        <p:nvSpPr>
          <p:cNvPr id="10" name="Shape 6"/>
          <p:cNvSpPr/>
          <p:nvPr/>
        </p:nvSpPr>
        <p:spPr>
          <a:xfrm>
            <a:off x="4663440" y="4553712"/>
            <a:ext cx="4297680" cy="457200"/>
          </a:xfrm>
          <a:prstGeom prst="rect">
            <a:avLst/>
          </a:prstGeom>
          <a:solidFill>
            <a:srgbClr val="DCFCE7"/>
          </a:solidFill>
          <a:ln w="12700">
            <a:solidFill>
              <a:srgbClr val="6EE7B7"/>
            </a:solidFill>
            <a:prstDash val="solid"/>
          </a:ln>
        </p:spPr>
      </p:sp>
      <p:sp>
        <p:nvSpPr>
          <p:cNvPr id="11" name="Text 7"/>
          <p:cNvSpPr/>
          <p:nvPr/>
        </p:nvSpPr>
        <p:spPr>
          <a:xfrm>
            <a:off x="4800600" y="4626864"/>
            <a:ext cx="40233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665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diagonal distribution — Leaf Smut: 4/7 correct. Most balanced predictions.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A4731"/>
          </a:solidFill>
          <a:ln w="12700">
            <a:solidFill>
              <a:srgbClr val="1A473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82880"/>
            <a:ext cx="84124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Comparison Report</a:t>
            </a:r>
            <a:endParaRPr lang="en-US" sz="20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28600" y="914400"/>
          <a:ext cx="8686800" cy="2834640"/>
        </p:xfrm>
        <a:graphic>
          <a:graphicData uri="http://schemas.openxmlformats.org/drawingml/2006/table">
            <a:tbl>
              <a:tblPr/>
              <a:tblGrid>
                <a:gridCol w="2286000"/>
                <a:gridCol w="1280160"/>
                <a:gridCol w="1280160"/>
                <a:gridCol w="1280160"/>
                <a:gridCol w="1188720"/>
                <a:gridCol w="1371600"/>
              </a:tblGrid>
              <a:tr h="5669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Model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473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Test Accuracy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473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Best Val Acc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473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Precision (avg)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473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Recall (avg)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473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Verdict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4731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4731"/>
                          </a:solidFill>
                        </a:rPr>
                        <a:t>Custom CNN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C0392B"/>
                          </a:solidFill>
                        </a:rPr>
                        <a:t>39%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4731"/>
                          </a:solidFill>
                        </a:rPr>
                        <a:t>47.8%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C0392B"/>
                          </a:solidFill>
                        </a:rPr>
                        <a:t>0.27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C0392B"/>
                          </a:solidFill>
                        </a:rPr>
                        <a:t>0.40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C0392B"/>
                          </a:solidFill>
                        </a:rPr>
                        <a:t>Not suitable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0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4731"/>
                          </a:solidFill>
                        </a:rPr>
                        <a:t>VGG16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E8A838"/>
                          </a:solidFill>
                        </a:rPr>
                        <a:t>43%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4731"/>
                          </a:solidFill>
                        </a:rPr>
                        <a:t>82.6%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E8A838"/>
                          </a:solidFill>
                        </a:rPr>
                        <a:t>0.47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E8A838"/>
                          </a:solidFill>
                        </a:rPr>
                        <a:t>0.44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E8A838"/>
                          </a:solidFill>
                        </a:rPr>
                        <a:t>Acceptable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4731"/>
                          </a:solidFill>
                        </a:rPr>
                        <a:t>MobileNetV2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0D9488"/>
                          </a:solidFill>
                        </a:rPr>
                        <a:t>17%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D9488"/>
                          </a:solidFill>
                        </a:rPr>
                        <a:t>91.3%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D9488"/>
                          </a:solidFill>
                        </a:rPr>
                        <a:t>0.18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D9488"/>
                          </a:solidFill>
                        </a:rPr>
                        <a:t>0.18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D9488"/>
                          </a:solidFill>
                        </a:rPr>
                        <a:t>Good base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E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66534"/>
                          </a:solidFill>
                        </a:rPr>
                        <a:t>MobileNetV2 Fine-Tuned ★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FC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66534"/>
                          </a:solidFill>
                        </a:rPr>
                        <a:t>Best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FC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66534"/>
                          </a:solidFill>
                        </a:rPr>
                        <a:t>95.7%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FC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66534"/>
                          </a:solidFill>
                        </a:rPr>
                        <a:t>—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FC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66534"/>
                          </a:solidFill>
                        </a:rPr>
                        <a:t>—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FC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66534"/>
                          </a:solidFill>
                        </a:rPr>
                        <a:t>Recommended ✓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FCE7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228600" y="3840480"/>
            <a:ext cx="8686800" cy="384048"/>
          </a:xfrm>
          <a:prstGeom prst="rect">
            <a:avLst/>
          </a:prstGeom>
          <a:solidFill>
            <a:srgbClr val="DCFCE7"/>
          </a:solidFill>
          <a:ln/>
        </p:spPr>
        <p:txBody>
          <a:bodyPr wrap="square" lIns="76200" tIns="76200" rIns="76200" bIns="7620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1665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 MobileNetV2 Fine-Tuned is recommended — highest validation accuracy (95.7%) with stable, low training loss.</a:t>
            </a:r>
            <a:endParaRPr lang="en-US" sz="1150" dirty="0"/>
          </a:p>
        </p:txBody>
      </p:sp>
      <p:sp>
        <p:nvSpPr>
          <p:cNvPr id="6" name="Text 3"/>
          <p:cNvSpPr/>
          <p:nvPr/>
        </p:nvSpPr>
        <p:spPr>
          <a:xfrm>
            <a:off x="228600" y="4343400"/>
            <a:ext cx="4206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47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test accuracy varies from val accuracy: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228600" y="4590288"/>
            <a:ext cx="8686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23 test images — each wrong prediction = ±4.3% accuracy shift. Validation scores during training are more reliable for comparing models.</a:t>
            </a:r>
            <a:endParaRPr lang="en-US" sz="10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A4731"/>
          </a:solidFill>
          <a:ln w="12700">
            <a:solidFill>
              <a:srgbClr val="1A473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82880"/>
            <a:ext cx="84124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Improved &amp; By How Much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274320" y="960120"/>
            <a:ext cx="8595360" cy="411480"/>
          </a:xfrm>
          <a:prstGeom prst="rect">
            <a:avLst/>
          </a:prstGeom>
          <a:solidFill>
            <a:srgbClr val="1A4731"/>
          </a:solidFill>
          <a:ln w="12700">
            <a:solidFill>
              <a:srgbClr val="1A473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1005840"/>
            <a:ext cx="2103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Aspect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2514600" y="1005840"/>
            <a:ext cx="2103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663440" y="1005840"/>
            <a:ext cx="2103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6812280" y="1005840"/>
            <a:ext cx="2103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Change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74320" y="1417320"/>
            <a:ext cx="8595360" cy="640080"/>
          </a:xfrm>
          <a:prstGeom prst="rect">
            <a:avLst/>
          </a:prstGeom>
          <a:solidFill>
            <a:srgbClr val="E8F5EE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74320" y="1417320"/>
            <a:ext cx="73152" cy="640080"/>
          </a:xfrm>
          <a:prstGeom prst="rect">
            <a:avLst/>
          </a:prstGeom>
          <a:solidFill>
            <a:srgbClr val="2D7D52"/>
          </a:solidFill>
          <a:ln w="12700">
            <a:solidFill>
              <a:srgbClr val="2D7D5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11480" y="1581912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47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 Accuracy (MobileNetV2)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2514600" y="1581912"/>
            <a:ext cx="2103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91.3%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663440" y="1581912"/>
            <a:ext cx="2103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D7D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95.7%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6812280" y="1581912"/>
            <a:ext cx="1965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D7D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+4.4%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274320" y="2130552"/>
            <a:ext cx="859536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74320" y="2130552"/>
            <a:ext cx="73152" cy="640080"/>
          </a:xfrm>
          <a:prstGeom prst="rect">
            <a:avLst/>
          </a:prstGeom>
          <a:solidFill>
            <a:srgbClr val="2980B9"/>
          </a:solidFill>
          <a:ln w="12700">
            <a:solidFill>
              <a:srgbClr val="2980B9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11480" y="2295144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47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Accuracy (CNN)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2514600" y="2295144"/>
            <a:ext cx="2103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35%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663440" y="2295144"/>
            <a:ext cx="2103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D7D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39%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6812280" y="2295144"/>
            <a:ext cx="1965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980B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+4%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274320" y="2843784"/>
            <a:ext cx="8595360" cy="640080"/>
          </a:xfrm>
          <a:prstGeom prst="rect">
            <a:avLst/>
          </a:prstGeom>
          <a:solidFill>
            <a:srgbClr val="E8F5EE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74320" y="2843784"/>
            <a:ext cx="73152" cy="640080"/>
          </a:xfrm>
          <a:prstGeom prst="rect">
            <a:avLst/>
          </a:prstGeom>
          <a:solidFill>
            <a:srgbClr val="E8A838"/>
          </a:solidFill>
          <a:ln w="12700">
            <a:solidFill>
              <a:srgbClr val="E8A83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11480" y="3008376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47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Accuracy (VGG16)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2514600" y="3008376"/>
            <a:ext cx="2103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35%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4663440" y="3008376"/>
            <a:ext cx="2103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D7D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43%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6812280" y="3008376"/>
            <a:ext cx="1965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8A8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+8%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274320" y="3557016"/>
            <a:ext cx="859536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274320" y="3557016"/>
            <a:ext cx="73152" cy="64008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11480" y="3721608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47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Augmentation Diversity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2514600" y="3721608"/>
            <a:ext cx="2103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params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4663440" y="3721608"/>
            <a:ext cx="2103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D7D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params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6812280" y="3721608"/>
            <a:ext cx="1965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Stronger</a:t>
            </a:r>
            <a:endParaRPr lang="en-US" sz="1300" dirty="0"/>
          </a:p>
        </p:txBody>
      </p:sp>
      <p:sp>
        <p:nvSpPr>
          <p:cNvPr id="33" name="Shape 31"/>
          <p:cNvSpPr/>
          <p:nvPr/>
        </p:nvSpPr>
        <p:spPr>
          <a:xfrm>
            <a:off x="274320" y="4270248"/>
            <a:ext cx="8595360" cy="640080"/>
          </a:xfrm>
          <a:prstGeom prst="rect">
            <a:avLst/>
          </a:prstGeom>
          <a:solidFill>
            <a:srgbClr val="E8F5EE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274320" y="4270248"/>
            <a:ext cx="73152" cy="64008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11480" y="443484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47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 Balance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2514600" y="4434840"/>
            <a:ext cx="2103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None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4663440" y="4434840"/>
            <a:ext cx="2103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D7D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class_weight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6812280" y="4434840"/>
            <a:ext cx="1965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Added</a:t>
            </a:r>
            <a:endParaRPr lang="en-US" sz="13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A4731"/>
          </a:solidFill>
          <a:ln w="12700">
            <a:solidFill>
              <a:srgbClr val="1A473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82880"/>
            <a:ext cx="84124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Challenges Faced &amp; Techniques Used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228600" y="960120"/>
            <a:ext cx="4251960" cy="1234440"/>
          </a:xfrm>
          <a:prstGeom prst="rect">
            <a:avLst/>
          </a:prstGeom>
          <a:solidFill>
            <a:srgbClr val="F5F5F0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9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28600" y="960120"/>
            <a:ext cx="91440" cy="1234440"/>
          </a:xfrm>
          <a:prstGeom prst="rect">
            <a:avLst/>
          </a:prstGeom>
          <a:solidFill>
            <a:srgbClr val="2980B9"/>
          </a:solidFill>
          <a:ln w="12700">
            <a:solidFill>
              <a:srgbClr val="2980B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11480" y="1033272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A47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Tiny Dataset (119 images)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411480" y="1325880"/>
            <a:ext cx="39319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980B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Technique: Stronger Augmentation (8 params)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411480" y="1554480"/>
            <a:ext cx="39319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Reason: 6 augmentation types expanded to 8 including channel shift and reflect fill mode.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228600" y="2331720"/>
            <a:ext cx="4251960" cy="1234440"/>
          </a:xfrm>
          <a:prstGeom prst="rect">
            <a:avLst/>
          </a:prstGeom>
          <a:solidFill>
            <a:srgbClr val="F5F5F0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9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228600" y="2331720"/>
            <a:ext cx="91440" cy="1234440"/>
          </a:xfrm>
          <a:prstGeom prst="rect">
            <a:avLst/>
          </a:prstGeom>
          <a:solidFill>
            <a:srgbClr val="2D7D52"/>
          </a:solidFill>
          <a:ln w="12700">
            <a:solidFill>
              <a:srgbClr val="2D7D5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11480" y="2404872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A47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Variable Image Sizes (34 unique)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411480" y="2697480"/>
            <a:ext cx="39319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D7D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Technique: Resize all to 224×224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411480" y="2926080"/>
            <a:ext cx="39319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Reason: ImageDataGenerator target_size standardises all images to a fixed input for the CNN.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228600" y="3703320"/>
            <a:ext cx="4251960" cy="1234440"/>
          </a:xfrm>
          <a:prstGeom prst="rect">
            <a:avLst/>
          </a:prstGeom>
          <a:solidFill>
            <a:srgbClr val="F5F5F0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9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228600" y="3703320"/>
            <a:ext cx="91440" cy="123444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11480" y="3776472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A47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CNN Loss Divergence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411480" y="4069080"/>
            <a:ext cx="39319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Technique: EarlyStopping + ReduceLROnPlateau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411480" y="4297680"/>
            <a:ext cx="39319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Reason: With 22M parameters and only 96 training images, loss exploded to 45+. Callbacks stopped training early.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4800600" y="960120"/>
            <a:ext cx="4251960" cy="1234440"/>
          </a:xfrm>
          <a:prstGeom prst="rect">
            <a:avLst/>
          </a:prstGeom>
          <a:solidFill>
            <a:srgbClr val="F5F5F0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9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800600" y="960120"/>
            <a:ext cx="91440" cy="1234440"/>
          </a:xfrm>
          <a:prstGeom prst="rect">
            <a:avLst/>
          </a:prstGeom>
          <a:solidFill>
            <a:srgbClr val="E8A838"/>
          </a:solidFill>
          <a:ln w="12700">
            <a:solidFill>
              <a:srgbClr val="E8A83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983480" y="1033272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A47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 Test Accuracy (23 images)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4983480" y="1325880"/>
            <a:ext cx="39319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E8A8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Technique: Validation accuracy as primary metric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4983480" y="1554480"/>
            <a:ext cx="39319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Reason: 23-image test set is statistically unreliable. Val accuracy during training is more meaningful for model selection.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4800600" y="2331720"/>
            <a:ext cx="4251960" cy="1234440"/>
          </a:xfrm>
          <a:prstGeom prst="rect">
            <a:avLst/>
          </a:prstGeom>
          <a:solidFill>
            <a:srgbClr val="F5F5F0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9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800600" y="2331720"/>
            <a:ext cx="91440" cy="123444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983480" y="2404872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A47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Frozen Base Underfitting</a:t>
            </a:r>
            <a:endParaRPr lang="en-US" sz="1150" dirty="0"/>
          </a:p>
        </p:txBody>
      </p:sp>
      <p:sp>
        <p:nvSpPr>
          <p:cNvPr id="27" name="Text 25"/>
          <p:cNvSpPr/>
          <p:nvPr/>
        </p:nvSpPr>
        <p:spPr>
          <a:xfrm>
            <a:off x="4983480" y="2697480"/>
            <a:ext cx="39319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Technique: Fine-Tuning (unfreeze last 30 layers)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4983480" y="2926080"/>
            <a:ext cx="39319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Reason: Unfreezing top layers and retraining at lr=1e-5 allowed disease-specific feature learning, boosting val acc to 95.7%.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4800600" y="3703320"/>
            <a:ext cx="4251960" cy="1234440"/>
          </a:xfrm>
          <a:prstGeom prst="rect">
            <a:avLst/>
          </a:prstGeom>
          <a:solidFill>
            <a:srgbClr val="F5F5F0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9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4800600" y="3703320"/>
            <a:ext cx="91440" cy="1234440"/>
          </a:xfrm>
          <a:prstGeom prst="rect">
            <a:avLst/>
          </a:prstGeom>
          <a:solidFill>
            <a:srgbClr val="6B7280"/>
          </a:solidFill>
          <a:ln w="12700">
            <a:solidFill>
              <a:srgbClr val="6B728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983480" y="3776472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A47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cv2 Module Not Found</a:t>
            </a:r>
            <a:endParaRPr lang="en-US" sz="1150" dirty="0"/>
          </a:p>
        </p:txBody>
      </p:sp>
      <p:sp>
        <p:nvSpPr>
          <p:cNvPr id="32" name="Text 30"/>
          <p:cNvSpPr/>
          <p:nvPr/>
        </p:nvSpPr>
        <p:spPr>
          <a:xfrm>
            <a:off x="4983480" y="4069080"/>
            <a:ext cx="39319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Technique: Replaced with PIL (Pillow)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4983480" y="4297680"/>
            <a:ext cx="39319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Reason: opencv-python unavailable. PIL's Image.open() used instead for loading images into K-Fold arrays — no behaviour difference.</a:t>
            </a:r>
            <a:endParaRPr lang="en-US" sz="9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A473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" cy="5143500"/>
          </a:xfrm>
          <a:prstGeom prst="rect">
            <a:avLst/>
          </a:prstGeom>
          <a:solidFill>
            <a:srgbClr val="E8A838"/>
          </a:solidFill>
          <a:ln w="12700">
            <a:solidFill>
              <a:srgbClr val="E8A83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347472"/>
            <a:ext cx="83210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 &amp; Next Steps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457200" y="1115568"/>
            <a:ext cx="83210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A7F3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🌿  </a:t>
            </a:r>
            <a:pPr indent="0" marL="0">
              <a:buNone/>
            </a:pPr>
            <a:r>
              <a:rPr lang="en-US" sz="1250" dirty="0">
                <a:solidFill>
                  <a:srgbClr val="A7F3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119 rice leaf images classified into 3 disease types. Improved augmentation (8 params) increased training diversity.</a:t>
            </a:r>
            <a:endParaRPr lang="en-US" sz="1250" dirty="0"/>
          </a:p>
        </p:txBody>
      </p:sp>
      <p:sp>
        <p:nvSpPr>
          <p:cNvPr id="5" name="Text 3"/>
          <p:cNvSpPr/>
          <p:nvPr/>
        </p:nvSpPr>
        <p:spPr>
          <a:xfrm>
            <a:off x="457200" y="1865376"/>
            <a:ext cx="83210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A7F3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  </a:t>
            </a:r>
            <a:pPr indent="0" marL="0">
              <a:buNone/>
            </a:pPr>
            <a:r>
              <a:rPr lang="en-US" sz="1250" dirty="0">
                <a:solidFill>
                  <a:srgbClr val="A7F3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MobileNetV2 Fine-Tuned is the best model — 95.7% val accuracy in just 3 fine-tuning epochs, stable loss.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457200" y="2615184"/>
            <a:ext cx="83210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A7F3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📈  </a:t>
            </a:r>
            <a:pPr indent="0" marL="0">
              <a:buNone/>
            </a:pPr>
            <a:r>
              <a:rPr lang="en-US" sz="1250" dirty="0">
                <a:solidFill>
                  <a:srgbClr val="A7F3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Fine-tuning improved val accuracy from 91.3% → 95.7%. VGG16 test accuracy improved from 35% → 43%.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457200" y="3364992"/>
            <a:ext cx="83210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A7F3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🔬  </a:t>
            </a:r>
            <a:pPr indent="0" marL="0">
              <a:buNone/>
            </a:pPr>
            <a:r>
              <a:rPr lang="en-US" sz="1250" dirty="0">
                <a:solidFill>
                  <a:srgbClr val="A7F3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CNN completely unsuitable for small datasets — 22M parameters with only 96 training images causes loss divergence.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457200" y="4114800"/>
            <a:ext cx="83210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A7F3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 </a:t>
            </a:r>
            <a:pPr indent="0" marL="0">
              <a:buNone/>
            </a:pPr>
            <a:r>
              <a:rPr lang="en-US" sz="1250" dirty="0">
                <a:solidFill>
                  <a:srgbClr val="A7F3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steps: collect 500+ images per class, run K-Fold cross-validation, and fine-tune deeper VGG16 layers for comparison.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411480" y="4846320"/>
            <a:ext cx="83210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4B8B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PRCP-1001  |  Rice Leaf Disease Detection  |  Improved Version  |  Deep Learning / Computer Vision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Rice Leaf Disease Detection — Improved Report</dc:title>
  <dc:subject>PptxGenJS Presentation</dc:subject>
  <dc:creator>PptxGenJS</dc:creator>
  <cp:lastModifiedBy>PptxGenJS</cp:lastModifiedBy>
  <cp:revision>1</cp:revision>
  <dcterms:created xsi:type="dcterms:W3CDTF">2026-03-10T20:41:54Z</dcterms:created>
  <dcterms:modified xsi:type="dcterms:W3CDTF">2026-03-10T20:41:54Z</dcterms:modified>
</cp:coreProperties>
</file>